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6B63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74A57F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Coal Thermal (2.45B kWh)</c:v>
                </c:pt>
                <c:pt idx="1">
                  <c:v>Green Sources (4.45B kWh)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2.45</c:v>
                </c:pt>
                <c:pt idx="1">
                  <c:v>4.45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74A57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CLIMATE &amp; ENERGY BASELINE  • 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Karnataka Sub-National Carbon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Footprint &amp; Emissions Inventory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Baselines, Scope 1–3 Breakdown, and a Data-Driven Decarbonization Strategy for South India's Leading Tech &amp; Manufacturing Economy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2391156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4A5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557016"/>
            <a:ext cx="211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191,791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4032504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km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4416552"/>
            <a:ext cx="2116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Area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87268" y="3429000"/>
            <a:ext cx="2391156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4A5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4428" y="3557016"/>
            <a:ext cx="211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~61.13M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4428" y="4032504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districts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4428" y="4416552"/>
            <a:ext cx="2116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34456" y="3429000"/>
            <a:ext cx="2391156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4A5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3557016"/>
            <a:ext cx="211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25,675+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71616" y="4032504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installed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71616" y="4416552"/>
            <a:ext cx="2116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Capacity (Oct 2025)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81644" y="3429000"/>
            <a:ext cx="2391156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4A5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18804" y="3557016"/>
            <a:ext cx="211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+4.10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718804" y="4032504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 CO2e/mo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18804" y="4416552"/>
            <a:ext cx="2116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Monthly Balance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50749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spans Scope 1, 2 and 3 emissions across fuel combustion, the electricity grid, water infrastructure, waste management, transport logistics and natural carbon sinks — benchmarked against Karnataka's 25.6 GW renewable fleet, the 4th-largest in India.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Carbon Footprint &amp; Emissions Inventory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Energy, Liquid Fuels &amp; Power Grid Sourcing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EMISSION DRIVERS — SCOPE 1 &amp; SCOPE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F6F8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icon_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0" y="17113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64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Thermal — Scope 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24140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276856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Diesel: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679.4k tonnes/month consumed in freight, mining and agriculture.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9808" y="305409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916936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340.1k tonnes/month across the light-vehicle and two-wheeler fleet.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9808" y="369417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557016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impact: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over 3.21 MMT CO2e/month from mobile logistics and industrial combustion.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" y="433425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4197096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hotspots: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Ballari–Hospet mining belt and Peenya/Bidadi manufacturing clusters are the largest point sources.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89320" y="137160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1B4332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16459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1" descr="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020" y="1711300"/>
            <a:ext cx="372161" cy="37216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664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Grid Mix — Scope 2</a:t>
            </a:r>
            <a:endParaRPr lang="en-US" sz="15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263640" y="2240280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 16"/>
          <p:cNvSpPr/>
          <p:nvPr/>
        </p:nvSpPr>
        <p:spPr>
          <a:xfrm>
            <a:off x="6263640" y="2907792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generation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(B kWh)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778240" y="22402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74A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64.5%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Karnataka's grid supply already comes from solar, wind and hydro.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778240" y="306324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25,675+ MW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renewable capacity statewide as of Oct 2025 (~26,421 MW by Feb 2026) — 4th highest in India.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263640" y="4114800"/>
            <a:ext cx="4663440" cy="0"/>
          </a:xfrm>
          <a:prstGeom prst="line">
            <a:avLst/>
          </a:prstGeom>
          <a:noFill/>
          <a:ln w="12700">
            <a:solidFill>
              <a:srgbClr val="3D7A5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63640" y="42519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Carbon Factor: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~0.61 kg CO2e/kWh vs. national avg ~0.82 kg CO2e/kWh — avoiding an estimated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2.71 MMT CO2e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month.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57200" y="516636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" y="5166360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Karnataka's renewable build-out has expanded roughly 5.8x since FY2020 — from ~4,466 MW to over 25,675 MW — making the state grid one of India's cleanest, even as freight and industrial fuel demand keeps Scope 1 emissions elevated.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Carbon Footprint &amp; Emissions Inventory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Mobility, Water Pumping &amp; Municipal Waste Emissions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TRANSPORT, HYDROLOGICAL &amp; WASTE DYNAMICS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429000" cy="4892040"/>
          </a:xfrm>
          <a:prstGeom prst="roundRect">
            <a:avLst>
              <a:gd name="adj" fmla="val 2133"/>
            </a:avLst>
          </a:prstGeom>
          <a:solidFill>
            <a:srgbClr val="F6F8F6"/>
          </a:solidFill>
          <a:ln/>
        </p:spPr>
      </p:sp>
      <p:sp>
        <p:nvSpPr>
          <p:cNvPr id="5" name="Shape 3"/>
          <p:cNvSpPr/>
          <p:nvPr/>
        </p:nvSpPr>
        <p:spPr>
          <a:xfrm>
            <a:off x="1851660" y="1536192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icon_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4870" y="1619402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Fleet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33M+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5800" y="32186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motor vehicles statewide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3822192"/>
            <a:ext cx="2788920" cy="0"/>
          </a:xfrm>
          <a:prstGeom prst="line">
            <a:avLst/>
          </a:prstGeom>
          <a:noFill/>
          <a:ln w="9525">
            <a:solidFill>
              <a:srgbClr val="74A57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4078224"/>
            <a:ext cx="64008" cy="6400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39319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bus transit: 125M km/month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49808" y="4718304"/>
            <a:ext cx="64008" cy="6400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4572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Two-wheelers: 850M km/month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49808" y="5358384"/>
            <a:ext cx="64008" cy="6400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3"/>
          <p:cNvSpPr/>
          <p:nvPr/>
        </p:nvSpPr>
        <p:spPr>
          <a:xfrm>
            <a:off x="932688" y="5212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cars: 210M km/month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4160520" y="1280160"/>
            <a:ext cx="3429000" cy="4892040"/>
          </a:xfrm>
          <a:prstGeom prst="roundRect">
            <a:avLst>
              <a:gd name="adj" fmla="val 2133"/>
            </a:avLst>
          </a:prstGeom>
          <a:solidFill>
            <a:srgbClr val="F6F8F6"/>
          </a:solidFill>
          <a:ln/>
        </p:spPr>
      </p:sp>
      <p:sp>
        <p:nvSpPr>
          <p:cNvPr id="18" name="Shape 15"/>
          <p:cNvSpPr/>
          <p:nvPr/>
        </p:nvSpPr>
        <p:spPr>
          <a:xfrm>
            <a:off x="5554980" y="1536192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9" name="Image 1" descr="icon_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190" y="1619402"/>
            <a:ext cx="473659" cy="47365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34340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Conveyance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434340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90M kWh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4389120" y="32186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drawn to lift Kaveri basin water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480560" y="3822192"/>
            <a:ext cx="2788920" cy="0"/>
          </a:xfrm>
          <a:prstGeom prst="line">
            <a:avLst/>
          </a:prstGeom>
          <a:noFill/>
          <a:ln w="9525">
            <a:solidFill>
              <a:srgbClr val="74A57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453128" y="4078224"/>
            <a:ext cx="64008" cy="6400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5" name="Text 21"/>
          <p:cNvSpPr/>
          <p:nvPr/>
        </p:nvSpPr>
        <p:spPr>
          <a:xfrm>
            <a:off x="4636008" y="39319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45M cubic metres/month of BWSSB supply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4453128" y="4718304"/>
            <a:ext cx="64008" cy="6400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7" name="Text 23"/>
          <p:cNvSpPr/>
          <p:nvPr/>
        </p:nvSpPr>
        <p:spPr>
          <a:xfrm>
            <a:off x="4636008" y="4572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lifted ~100+ km &amp; 300+ m elevation to Bengaluru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4453128" y="5358384"/>
            <a:ext cx="64008" cy="6400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9" name="Text 25"/>
          <p:cNvSpPr/>
          <p:nvPr/>
        </p:nvSpPr>
        <p:spPr>
          <a:xfrm>
            <a:off x="4636008" y="5212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~54.9k tonnes CO2e/month of indirect emissions</a:t>
            </a:r>
            <a:endParaRPr lang="en-US" sz="1080" dirty="0"/>
          </a:p>
        </p:txBody>
      </p:sp>
      <p:sp>
        <p:nvSpPr>
          <p:cNvPr id="30" name="Shape 26"/>
          <p:cNvSpPr/>
          <p:nvPr/>
        </p:nvSpPr>
        <p:spPr>
          <a:xfrm>
            <a:off x="7863840" y="1280160"/>
            <a:ext cx="3429000" cy="4892040"/>
          </a:xfrm>
          <a:prstGeom prst="roundRect">
            <a:avLst>
              <a:gd name="adj" fmla="val 2133"/>
            </a:avLst>
          </a:prstGeom>
          <a:solidFill>
            <a:srgbClr val="F6F8F6"/>
          </a:solidFill>
          <a:ln/>
        </p:spPr>
      </p:sp>
      <p:sp>
        <p:nvSpPr>
          <p:cNvPr id="31" name="Shape 27"/>
          <p:cNvSpPr/>
          <p:nvPr/>
        </p:nvSpPr>
        <p:spPr>
          <a:xfrm>
            <a:off x="9258300" y="1536192"/>
            <a:ext cx="640080" cy="640080"/>
          </a:xfrm>
          <a:prstGeom prst="ellipse">
            <a:avLst/>
          </a:prstGeom>
          <a:solidFill>
            <a:srgbClr val="74A57F"/>
          </a:solidFill>
          <a:ln/>
        </p:spPr>
      </p:sp>
      <p:pic>
        <p:nvPicPr>
          <p:cNvPr id="32" name="Image 2" descr="icon_recy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510" y="1619402"/>
            <a:ext cx="473659" cy="473659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04672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Waste</a:t>
            </a:r>
            <a:endParaRPr lang="en-US" sz="1550" dirty="0"/>
          </a:p>
        </p:txBody>
      </p:sp>
      <p:sp>
        <p:nvSpPr>
          <p:cNvPr id="34" name="Text 29"/>
          <p:cNvSpPr/>
          <p:nvPr/>
        </p:nvSpPr>
        <p:spPr>
          <a:xfrm>
            <a:off x="804672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4A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113k t</a:t>
            </a:r>
            <a:endParaRPr lang="en-US" sz="2600" dirty="0"/>
          </a:p>
        </p:txBody>
      </p:sp>
      <p:sp>
        <p:nvSpPr>
          <p:cNvPr id="35" name="Text 30"/>
          <p:cNvSpPr/>
          <p:nvPr/>
        </p:nvSpPr>
        <p:spPr>
          <a:xfrm>
            <a:off x="8092440" y="32186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landfilled waste generating methane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183880" y="3822192"/>
            <a:ext cx="2788920" cy="0"/>
          </a:xfrm>
          <a:prstGeom prst="line">
            <a:avLst/>
          </a:prstGeom>
          <a:noFill/>
          <a:ln w="9525">
            <a:solidFill>
              <a:srgbClr val="74A57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156448" y="4078224"/>
            <a:ext cx="64008" cy="64008"/>
          </a:xfrm>
          <a:prstGeom prst="ellipse">
            <a:avLst/>
          </a:prstGeom>
          <a:solidFill>
            <a:srgbClr val="74A57F"/>
          </a:solidFill>
          <a:ln/>
        </p:spPr>
      </p:sp>
      <p:sp>
        <p:nvSpPr>
          <p:cNvPr id="38" name="Text 33"/>
          <p:cNvSpPr/>
          <p:nvPr/>
        </p:nvSpPr>
        <p:spPr>
          <a:xfrm>
            <a:off x="8339328" y="39319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~85k tonnes CO2e/month from landfill decay</a:t>
            </a:r>
            <a:endParaRPr lang="en-US" sz="1080" dirty="0"/>
          </a:p>
        </p:txBody>
      </p:sp>
      <p:sp>
        <p:nvSpPr>
          <p:cNvPr id="39" name="Shape 34"/>
          <p:cNvSpPr/>
          <p:nvPr/>
        </p:nvSpPr>
        <p:spPr>
          <a:xfrm>
            <a:off x="8156448" y="4718304"/>
            <a:ext cx="64008" cy="64008"/>
          </a:xfrm>
          <a:prstGeom prst="ellipse">
            <a:avLst/>
          </a:prstGeom>
          <a:solidFill>
            <a:srgbClr val="74A57F"/>
          </a:solidFill>
          <a:ln/>
        </p:spPr>
      </p:sp>
      <p:sp>
        <p:nvSpPr>
          <p:cNvPr id="40" name="Text 35"/>
          <p:cNvSpPr/>
          <p:nvPr/>
        </p:nvSpPr>
        <p:spPr>
          <a:xfrm>
            <a:off x="8339328" y="4572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135k tonnes/month diverted to composting</a:t>
            </a:r>
            <a:endParaRPr lang="en-US" sz="1080" dirty="0"/>
          </a:p>
        </p:txBody>
      </p:sp>
      <p:sp>
        <p:nvSpPr>
          <p:cNvPr id="41" name="Shape 36"/>
          <p:cNvSpPr/>
          <p:nvPr/>
        </p:nvSpPr>
        <p:spPr>
          <a:xfrm>
            <a:off x="8156448" y="5358384"/>
            <a:ext cx="64008" cy="64008"/>
          </a:xfrm>
          <a:prstGeom prst="ellipse">
            <a:avLst/>
          </a:prstGeom>
          <a:solidFill>
            <a:srgbClr val="74A57F"/>
          </a:solidFill>
          <a:ln/>
        </p:spPr>
      </p:sp>
      <p:sp>
        <p:nvSpPr>
          <p:cNvPr id="42" name="Text 37"/>
          <p:cNvSpPr/>
          <p:nvPr/>
        </p:nvSpPr>
        <p:spPr>
          <a:xfrm>
            <a:off x="8339328" y="5212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 gas is a short-lived but potent driver</a:t>
            </a:r>
            <a:endParaRPr lang="en-US" sz="1080" dirty="0"/>
          </a:p>
        </p:txBody>
      </p:sp>
      <p:sp>
        <p:nvSpPr>
          <p:cNvPr id="43" name="Text 3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Carbon Footprint &amp; Emissions Inventory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943600" cy="59436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 Reserve, Ecosystem Storage &amp; Absorption Capacity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TERRESTRIAL CARBON SINK &amp; SEQUESTRATION CANOPY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icon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161574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688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~1.85 MMT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absorbed per month by terrestrial biomass — a natural buffer offsetting a major share of the state's direct emissions.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48056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74A5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6177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to watch: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ISFR 2023 recorded a 459 sq km net decline in Karnataka's forest &amp; tree cover — the 2nd-largest drop of any state, underscoring the need for active canopy protection.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74920" y="1508760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303520" y="1755648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1" descr="icon_seed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1874520"/>
            <a:ext cx="676656" cy="6766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0" y="1618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38,730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40080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km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275320" y="1673352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forest cover — 20.2% of state geographical area (Western Ghats / Malenadu core)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74920" y="3127248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5303520" y="3374136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9" name="Image 2" descr="icon_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3493008"/>
            <a:ext cx="676656" cy="6766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2369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549.45M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400800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275320" y="32918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tree count outside recorded forest area, incl. agroforestry &amp; urban canopy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074920" y="4745736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5303520" y="4992624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5" name="Image 3" descr="icon_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2" y="5111496"/>
            <a:ext cx="676656" cy="6766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00800" y="48554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580M+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6400800" y="5294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carbon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275320" y="4910328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carbon stock held in forest biomass and soil organic carbon pools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Carbon Footprint &amp; Emissions Inventory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Pathways to Net-Zero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DECARBONIZATION ROADMAP &amp; POLICY PRIORITIES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F6F8F6"/>
          </a:solidFill>
          <a:ln/>
        </p:spPr>
      </p:sp>
      <p:sp>
        <p:nvSpPr>
          <p:cNvPr id="5" name="Text 3"/>
          <p:cNvSpPr/>
          <p:nvPr/>
        </p:nvSpPr>
        <p:spPr>
          <a:xfrm>
            <a:off x="4777740" y="13533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0" descr="icon_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501" y="1582461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27048"/>
            <a:ext cx="34518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&amp; Freight Electrification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232" y="2194560"/>
            <a:ext cx="476859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heavy transport and mining in Ballari–Hospet from diesel to electric drivetrains and green hydrogen; expand PNG city-gas networks and grid-connected EV charging corridors along NH freight routes.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12180" y="128016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F6F8F6"/>
          </a:solidFill>
          <a:ln/>
        </p:spPr>
      </p:sp>
      <p:sp>
        <p:nvSpPr>
          <p:cNvPr id="11" name="Text 8"/>
          <p:cNvSpPr/>
          <p:nvPr/>
        </p:nvSpPr>
        <p:spPr>
          <a:xfrm>
            <a:off x="10332720" y="13533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6240780" y="1508760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1" descr="icon_so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481" y="1582461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72300" y="1527048"/>
            <a:ext cx="34518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 Integration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268212" y="2194560"/>
            <a:ext cx="476859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beyond the current 25,675+ MW solar/wind base with battery storage (2.5 GWh Bidadi BESS plant online) and the 2,000 MW Sharavathi pumped-hydro project to phase out coal for peak demand.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88620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F6F8F6"/>
          </a:solidFill>
          <a:ln/>
        </p:spPr>
      </p:sp>
      <p:sp>
        <p:nvSpPr>
          <p:cNvPr id="17" name="Text 13"/>
          <p:cNvSpPr/>
          <p:nvPr/>
        </p:nvSpPr>
        <p:spPr>
          <a:xfrm>
            <a:off x="4777740" y="39593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85800" y="4114800"/>
            <a:ext cx="566928" cy="566928"/>
          </a:xfrm>
          <a:prstGeom prst="ellipse">
            <a:avLst/>
          </a:prstGeom>
          <a:solidFill>
            <a:srgbClr val="74A57F"/>
          </a:solidFill>
          <a:ln/>
        </p:spPr>
      </p:sp>
      <p:pic>
        <p:nvPicPr>
          <p:cNvPr id="19" name="Image 2" descr="icon_recy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01" y="4188501"/>
            <a:ext cx="419527" cy="41952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133088"/>
            <a:ext cx="34518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Municipal Waste Diversion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713232" y="4800600"/>
            <a:ext cx="476859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source-segregated, 100% wet-waste diversion to biomethanation and aerobic composting under the Solid Waste Management Rules to eliminate avoidable landfill methane release.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012180" y="388620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F6F8F6"/>
          </a:solidFill>
          <a:ln/>
        </p:spPr>
      </p:sp>
      <p:sp>
        <p:nvSpPr>
          <p:cNvPr id="23" name="Text 18"/>
          <p:cNvSpPr/>
          <p:nvPr/>
        </p:nvSpPr>
        <p:spPr>
          <a:xfrm>
            <a:off x="10332720" y="39593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6240780" y="4114800"/>
            <a:ext cx="566928" cy="566928"/>
          </a:xfrm>
          <a:prstGeom prst="ellipse">
            <a:avLst/>
          </a:prstGeom>
          <a:solidFill>
            <a:srgbClr val="40826D"/>
          </a:solidFill>
          <a:ln/>
        </p:spPr>
      </p:sp>
      <p:pic>
        <p:nvPicPr>
          <p:cNvPr id="25" name="Image 3" descr="icon_lea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481" y="4188501"/>
            <a:ext cx="419527" cy="41952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72300" y="4133088"/>
            <a:ext cx="34518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Canopy Protection &amp; Restoration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268212" y="4800600"/>
            <a:ext cx="476859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strict conservation across the Western Ghats Eco-Sensitive Area (which has already lost ~58 sq km of forest since 2013) and expand urban forestry across Greater Bengaluru.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Carbon Footprint &amp; Emissions Inventory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B97AC2A7-A11E-41CD-89B5-41E0D6CAAFFB}"/>
</file>

<file path=customXml/itemProps2.xml><?xml version="1.0" encoding="utf-8"?>
<ds:datastoreItem xmlns:ds="http://schemas.openxmlformats.org/officeDocument/2006/customXml" ds:itemID="{535A041A-2BE1-462E-9FCE-035539A34848}"/>
</file>

<file path=customXml/itemProps3.xml><?xml version="1.0" encoding="utf-8"?>
<ds:datastoreItem xmlns:ds="http://schemas.openxmlformats.org/officeDocument/2006/customXml" ds:itemID="{C6E4F5E3-77BB-4B31-8E67-CDBA888B294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2026-08-11T16:40:30Z</dcterms:created>
  <dcterms:modified xsi:type="dcterms:W3CDTF">2026-08-11T16:40:30Z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