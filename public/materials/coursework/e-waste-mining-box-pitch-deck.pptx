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2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3840480" cy="5440680"/>
          </a:xfrm>
          <a:prstGeom prst="rect">
            <a:avLst/>
          </a:prstGeom>
          <a:solidFill>
            <a:srgbClr val="2A6843"/>
          </a:solidFill>
          <a:ln>
            <a:solidFill>
              <a:srgbClr val="2A6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51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EFE1"/>
                </a:solidFill>
                <a:latin typeface="Aptos"/>
              </a:rPr>
              <a:t>SUSTAINABILITY ×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FFFFFA"/>
                </a:solidFill>
                <a:latin typeface="Aptos"/>
              </a:rPr>
              <a:t>E-WASTE
MINING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F5EB"/>
                </a:solidFill>
                <a:latin typeface="Aptos"/>
              </a:rPr>
              <a:t>Turning discarded electronics into measurable resource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2344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31F"/>
                </a:solidFill>
                <a:latin typeface="Aptos"/>
              </a:rPr>
              <a:t>Don’t throw away
the mine.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2352" y="2743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A6843"/>
                </a:solidFill>
                <a:latin typeface="Aptos"/>
              </a:rPr>
              <a:t>AI-powered collection, valuation and recovery.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2352" y="3703320"/>
            <a:ext cx="5303520" cy="32004"/>
          </a:xfrm>
          <a:prstGeom prst="rect">
            <a:avLst/>
          </a:prstGeom>
          <a:solidFill>
            <a:srgbClr val="CD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2352" y="40690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C231F"/>
                </a:solidFill>
                <a:latin typeface="Aptos"/>
              </a:rPr>
              <a:t>A smart kiosk that rewards people for responsible disposal and creates a traceable path to authorized recycling.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5532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25B"/>
                </a:solidFill>
                <a:latin typeface="Aptos"/>
              </a:rPr>
              <a:t>INNOVATION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25B"/>
                </a:solidFill>
                <a:latin typeface="Aptos"/>
              </a:rPr>
              <a:t>E-WASTE MINING BOX   /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C231F"/>
                </a:solidFill>
                <a:latin typeface="Aptos"/>
              </a:rPr>
              <a:t>E-waste has value. Our system loses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5B"/>
                </a:solidFill>
                <a:latin typeface="Aptos"/>
              </a:rPr>
              <a:t>The challenge is not only disposal. It is recovery.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07492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692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221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843"/>
                </a:solidFill>
                <a:latin typeface="Aptos"/>
              </a:rPr>
              <a:t>VALUE LOST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Metals and reusable components are discarded instead of recovered.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057400"/>
            <a:ext cx="507492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692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221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843"/>
                </a:solidFill>
                <a:latin typeface="Aptos"/>
              </a:rPr>
              <a:t>LOW CONVENIENCE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People often do not know where to take old electronics.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507492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692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09651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843"/>
                </a:solidFill>
                <a:latin typeface="Aptos"/>
              </a:rPr>
              <a:t>NO INCENTIVE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Responsible disposal rarely feels immediate or rewarding.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931920"/>
            <a:ext cx="507492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692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09651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843"/>
                </a:solidFill>
                <a:latin typeface="Aptos"/>
              </a:rPr>
              <a:t>WEAK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Organizations need better data on what was collected and recovered.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897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6843"/>
                </a:solidFill>
                <a:latin typeface="Aptos"/>
              </a:rPr>
              <a:t>THE GAP  →  Make collection easy, valuable, traceable and rewarding.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25B"/>
                </a:solidFill>
                <a:latin typeface="Aptos"/>
              </a:rPr>
              <a:t>E-WASTE MINING BOX   /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C231F"/>
                </a:solidFill>
                <a:latin typeface="Aptos"/>
              </a:rPr>
              <a:t>Meet the E-Waste Mining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5B"/>
                </a:solidFill>
                <a:latin typeface="Aptos"/>
              </a:rPr>
              <a:t>A physical collection point connected to an AI-powered recovery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1965960" cy="224028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843"/>
                </a:solidFill>
                <a:latin typeface="Aptos"/>
              </a:rPr>
              <a:t>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31F"/>
                </a:solidFill>
                <a:latin typeface="Aptos"/>
              </a:rPr>
              <a:t>Phone • charger • laptop • small electronics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D692F"/>
                </a:solidFill>
                <a:latin typeface="Apto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2148840"/>
            <a:ext cx="1965960" cy="224028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88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843"/>
                </a:solidFill>
                <a:latin typeface="Aptos"/>
              </a:rPr>
              <a:t>IDENTIFY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37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31F"/>
                </a:solidFill>
                <a:latin typeface="Aptos"/>
              </a:rPr>
              <a:t>Camera + barcode / 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D692F"/>
                </a:solidFill>
                <a:latin typeface="Apto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59" y="2148840"/>
            <a:ext cx="1965960" cy="224028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788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843"/>
                </a:solidFill>
                <a:latin typeface="Aptos"/>
              </a:rPr>
              <a:t>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337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31F"/>
                </a:solidFill>
                <a:latin typeface="Aptos"/>
              </a:rPr>
              <a:t>Condition + estimated recovery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D692F"/>
                </a:solidFill>
                <a:latin typeface="Aptos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148840"/>
            <a:ext cx="1965960" cy="224028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2788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843"/>
                </a:solidFill>
                <a:latin typeface="Aptos"/>
              </a:rPr>
              <a:t>REWARD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3337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31F"/>
                </a:solidFill>
                <a:latin typeface="Aptos"/>
              </a:rPr>
              <a:t>Eco-points, coupons or payout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D692F"/>
                </a:solidFill>
                <a:latin typeface="Aptos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2148840"/>
            <a:ext cx="1965960" cy="224028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788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843"/>
                </a:solidFill>
                <a:latin typeface="Aptos"/>
              </a:rPr>
              <a:t>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337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31F"/>
                </a:solidFill>
                <a:latin typeface="Aptos"/>
              </a:rPr>
              <a:t>Verified recycling 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834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C231F"/>
                </a:solidFill>
                <a:latin typeface="Aptos"/>
              </a:rPr>
              <a:t>Instead of asking “Where do I throw this?”, the user gets one clear answer: “Here, and you get something back.”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25B"/>
                </a:solidFill>
                <a:latin typeface="Aptos"/>
              </a:rPr>
              <a:t>E-WASTE MINING BOX   /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03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C231F"/>
                </a:solidFill>
                <a:latin typeface="Aptos"/>
              </a:rPr>
              <a:t>One box. One data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5B"/>
                </a:solidFill>
                <a:latin typeface="Aptos"/>
              </a:rPr>
              <a:t>Every item creates a digital record from intake to material recovery.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6400800" cy="356616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6843"/>
                </a:solidFill>
                <a:latin typeface="Aptos"/>
              </a:rPr>
              <a:t>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17627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Old electronics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615184"/>
            <a:ext cx="5486400" cy="32004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6843"/>
                </a:solidFill>
                <a:latin typeface="Aptos"/>
              </a:rP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77063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Identify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209544"/>
            <a:ext cx="5486400" cy="32004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6499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6843"/>
                </a:solidFill>
                <a:latin typeface="Aptos"/>
              </a:rPr>
              <a:t>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364991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Score recovery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803904"/>
            <a:ext cx="5486400" cy="32004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593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6843"/>
                </a:solidFill>
                <a:latin typeface="Aptos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95935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Track 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398264"/>
            <a:ext cx="5486400" cy="32004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53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6843"/>
                </a:solidFill>
                <a:latin typeface="Aptos"/>
              </a:rPr>
              <a:t>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55371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31F"/>
                </a:solidFill>
                <a:latin typeface="Aptos"/>
              </a:rPr>
              <a:t>Confirm 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920240"/>
            <a:ext cx="4023360" cy="3566160"/>
          </a:xfrm>
          <a:prstGeom prst="rect">
            <a:avLst/>
          </a:prstGeom>
          <a:solidFill>
            <a:srgbClr val="2A6843"/>
          </a:solidFill>
          <a:ln>
            <a:solidFill>
              <a:srgbClr val="2A6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677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F0E2"/>
                </a:solidFill>
                <a:latin typeface="Aptos"/>
              </a:rPr>
              <a:t>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889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A"/>
                </a:solidFill>
                <a:latin typeface="Aptos"/>
              </a:rPr>
              <a:t>• Computer vision
• Barcode / QR scan
• IoT sensors
• Cloud dashboard
• AI classification
• Digital rewards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F0E2"/>
                </a:solidFill>
                <a:latin typeface="Aptos"/>
              </a:rPr>
              <a:t>TRACEABLE → MEASURABLE → SCALABLE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25B"/>
                </a:solidFill>
                <a:latin typeface="Aptos"/>
              </a:rPr>
              <a:t>E-WASTE MINING BOX   /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04 /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C231F"/>
                </a:solidFill>
                <a:latin typeface="Aptos"/>
              </a:rPr>
              <a:t>The kiosk is the entry point. The data is the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5B"/>
                </a:solidFill>
                <a:latin typeface="Aptos"/>
              </a:rPr>
              <a:t>Revenue comes from recovery, partnerships and the infrastructure around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333756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21408"/>
            <a:ext cx="2935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692F"/>
                </a:solidFill>
                <a:latin typeface="Aptos"/>
              </a:rPr>
              <a:t>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42032"/>
            <a:ext cx="29352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31F"/>
                </a:solidFill>
                <a:latin typeface="Aptos"/>
              </a:rPr>
              <a:t>Sell sorted e-waste to authorized recyclers.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920240"/>
            <a:ext cx="333756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121408"/>
            <a:ext cx="2935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692F"/>
                </a:solidFill>
                <a:latin typeface="Aptos"/>
              </a:rPr>
              <a:t>CORPORATE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542032"/>
            <a:ext cx="29352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31F"/>
                </a:solidFill>
                <a:latin typeface="Aptos"/>
              </a:rPr>
              <a:t>Recurring collection contracts for offices and campuses.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920240"/>
            <a:ext cx="333756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121408"/>
            <a:ext cx="2935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692F"/>
                </a:solidFill>
                <a:latin typeface="Aptos"/>
              </a:rPr>
              <a:t>EPR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542032"/>
            <a:ext cx="29352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31F"/>
                </a:solidFill>
                <a:latin typeface="Aptos"/>
              </a:rPr>
              <a:t>Partnerships with manufacturers and EPR programs.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49039"/>
            <a:ext cx="333756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950207"/>
            <a:ext cx="2935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692F"/>
                </a:solidFill>
                <a:latin typeface="Aptos"/>
              </a:rP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370831"/>
            <a:ext cx="29352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31F"/>
                </a:solidFill>
                <a:latin typeface="Aptos"/>
              </a:rPr>
              <a:t>Recovery and sustainability reporting for organizations.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749039"/>
            <a:ext cx="3337560" cy="141732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950207"/>
            <a:ext cx="2935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692F"/>
                </a:solidFill>
                <a:latin typeface="Aptos"/>
              </a:rPr>
              <a:t>SPONSORSHIP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370831"/>
            <a:ext cx="29352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31F"/>
                </a:solidFill>
                <a:latin typeface="Aptos"/>
              </a:rPr>
              <a:t>Brand-sponsored kiosks and relevant advertising.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6843"/>
                </a:solidFill>
                <a:latin typeface="Aptos"/>
              </a:rPr>
              <a:t>CORE MODEL  =  Recovery value  +  B2B contracts  +  EPR  + 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25B"/>
                </a:solidFill>
                <a:latin typeface="Aptos"/>
              </a:rPr>
              <a:t>E-WASTE MINING BOX   /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692F"/>
                </a:solidFill>
                <a:latin typeface="Aptos"/>
              </a:rPr>
              <a:t>05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C231F"/>
                </a:solidFill>
                <a:latin typeface="Aptos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5B"/>
                </a:solidFill>
                <a:latin typeface="Aptos"/>
              </a:rPr>
              <a:t>We measure environmental impact and commercial performance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2468880" cy="196596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A6843"/>
                </a:solidFill>
                <a:latin typeface="Aptos"/>
              </a:rPr>
              <a:t>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692F"/>
                </a:solidFill>
                <a:latin typeface="Aptos"/>
              </a:rPr>
              <a:t>E-WASTE COLLECTED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2152" y="1965960"/>
            <a:ext cx="2468880" cy="196596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240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A6843"/>
                </a:solidFill>
                <a:latin typeface="Aptos"/>
              </a:rPr>
              <a:t>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692F"/>
                </a:solidFill>
                <a:latin typeface="Aptos"/>
              </a:rPr>
              <a:t>VALUE RECOVERED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8504" y="1965960"/>
            <a:ext cx="2468880" cy="196596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240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A6843"/>
                </a:solidFill>
                <a:latin typeface="Aptos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692F"/>
                </a:solidFill>
                <a:latin typeface="Aptos"/>
              </a:rPr>
              <a:t>MATERIAL RECOVERY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4856" y="1965960"/>
            <a:ext cx="2468880" cy="1965960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2240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A6843"/>
                </a:solidFill>
                <a:latin typeface="Aptos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692F"/>
                </a:solidFill>
                <a:latin typeface="Aptos"/>
              </a:rPr>
              <a:t>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6843"/>
                </a:solidFill>
                <a:latin typeface="Aptos"/>
              </a:rPr>
              <a:t>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31F"/>
                </a:solidFill>
                <a:latin typeface="Aptos"/>
              </a:rPr>
              <a:t>Less e-waste sent to improper disposal. More components and materials stay in the circular economy.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25B"/>
                </a:solidFill>
                <a:latin typeface="Aptos"/>
              </a:rPr>
              <a:t>E-WASTE MINING BOX   /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6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1F0E2"/>
                </a:solidFill>
                <a:latin typeface="Aptos"/>
              </a:rPr>
              <a:t>06 /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FFFFFA"/>
                </a:solidFill>
                <a:latin typeface="Aptos"/>
              </a:rPr>
              <a:t>From one kiosk
to a city-wide recovery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CBC"/>
                </a:solidFill>
                <a:latin typeface="Aptos"/>
              </a:rPr>
              <a:t>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0156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A"/>
                </a:solidFill>
                <a:latin typeface="Aptos"/>
              </a:rPr>
              <a:t>Colleges +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3154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CBC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CBC"/>
                </a:solidFill>
                <a:latin typeface="Aptos"/>
              </a:rPr>
              <a:t>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340156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A"/>
                </a:solidFill>
                <a:latin typeface="Aptos"/>
              </a:rPr>
              <a:t>High-footfall 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154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CBC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CBC"/>
                </a:solidFill>
                <a:latin typeface="Aptos"/>
              </a:rP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340156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A"/>
                </a:solidFill>
                <a:latin typeface="Aptos"/>
              </a:rPr>
              <a:t>Verified recyclers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54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CBC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CBC"/>
                </a:solidFill>
                <a:latin typeface="Aptos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40156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A"/>
                </a:solidFill>
                <a:latin typeface="Aptos"/>
              </a:rPr>
              <a:t>Across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A"/>
                </a:solidFill>
                <a:latin typeface="Aptos"/>
              </a:rPr>
              <a:t>COLLECT. RECOVER. REWARD. REPEAT.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1F0E2"/>
                </a:solidFill>
                <a:latin typeface="Aptos"/>
              </a:rPr>
              <a:t>E-WASTE MINING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25B"/>
                </a:solidFill>
                <a:latin typeface="Aptos"/>
              </a:rPr>
              <a:t>E-WASTE MINING BOX   /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7A050B96-86A9-4E9A-9A18-134DF9B28F7D}"/>
</file>

<file path=customXml/itemProps2.xml><?xml version="1.0" encoding="utf-8"?>
<ds:datastoreItem xmlns:ds="http://schemas.openxmlformats.org/officeDocument/2006/customXml" ds:itemID="{612DB5B5-C847-4724-9CC5-662C2C31EE19}"/>
</file>

<file path=customXml/itemProps3.xml><?xml version="1.0" encoding="utf-8"?>
<ds:datastoreItem xmlns:ds="http://schemas.openxmlformats.org/officeDocument/2006/customXml" ds:itemID="{C1EB4836-2F89-427E-92F7-4C32998295A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